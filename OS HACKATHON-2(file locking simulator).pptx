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  <p:sldId id="267" r:id="rId3"/>
    <p:sldId id="257" r:id="rId4"/>
    <p:sldId id="266" r:id="rId5"/>
    <p:sldId id="258" r:id="rId6"/>
    <p:sldId id="259" r:id="rId7"/>
    <p:sldId id="260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9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8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64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4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2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51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17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7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7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1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6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5C06E2-492D-4535-AB56-D453523D6B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7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9127" y="2019568"/>
            <a:ext cx="8677910" cy="551180"/>
          </a:xfrm>
        </p:spPr>
        <p:txBody>
          <a:bodyPr>
            <a:normAutofit/>
          </a:bodyPr>
          <a:lstStyle/>
          <a:p>
            <a:r>
              <a:rPr lang="en-US" sz="3200" dirty="0"/>
              <a:t>File System Access &amp; Locking Simulator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322FEB5-0737-5284-3BEC-96B5BFD15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899" y="3870642"/>
            <a:ext cx="7766936" cy="1096899"/>
          </a:xfrm>
        </p:spPr>
        <p:txBody>
          <a:bodyPr>
            <a:normAutofit/>
          </a:bodyPr>
          <a:lstStyle/>
          <a:p>
            <a:pPr algn="ctr"/>
            <a:endParaRPr lang="en-US" alt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93443" y="4287252"/>
            <a:ext cx="84414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Team Members: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2420030062- Srija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2420030387-Nikhila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2420030617-Srinika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2420030742-Srivalli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br>
              <a:rPr lang="en-US" dirty="0">
                <a:latin typeface="Trebuchet MS" panose="020B0603020202020204" charset="0"/>
                <a:cs typeface="Trebuchet MS" panose="020B0603020202020204" charset="0"/>
              </a:rPr>
            </a:br>
            <a:endParaRPr lang="en-IN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21" y="-39788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2393443" y="2608087"/>
            <a:ext cx="661797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en-US" sz="2400" dirty="0"/>
          </a:p>
          <a:p>
            <a:pPr algn="ctr"/>
            <a:endParaRPr lang="en-US" altLang="en-US" dirty="0"/>
          </a:p>
          <a:p>
            <a:r>
              <a:rPr lang="en-US" altLang="en-US" dirty="0"/>
              <a:t>Course Name: Operating System(OS)</a:t>
            </a:r>
          </a:p>
          <a:p>
            <a:endParaRPr lang="en-US" altLang="en-US" dirty="0"/>
          </a:p>
          <a:p>
            <a:r>
              <a:rPr lang="en-US" altLang="en-US" dirty="0"/>
              <a:t>Faculty Name: </a:t>
            </a:r>
            <a:r>
              <a:rPr lang="en-US" altLang="en-US" dirty="0" err="1"/>
              <a:t>Dr.MuniRaju</a:t>
            </a:r>
            <a:endParaRPr lang="en-US" altLang="en-US" dirty="0"/>
          </a:p>
          <a:p>
            <a:r>
              <a:rPr lang="en-US" altLang="en-US" dirty="0"/>
              <a:t>Section :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8150" y="237490"/>
            <a:ext cx="4154170" cy="8185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A73FC0D-154F-8CAB-DE59-C89B86F11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706" y="-74128"/>
            <a:ext cx="2534614" cy="188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E4F3639-274A-998F-1047-8CD4F648A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694531"/>
            <a:ext cx="11683519" cy="418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In an operating system, multiple processes or threads often try to access the</a:t>
            </a:r>
          </a:p>
          <a:p>
            <a:r>
              <a:rPr lang="en-US" sz="2800" dirty="0"/>
              <a:t>same file at the same time. </a:t>
            </a:r>
          </a:p>
          <a:p>
            <a:r>
              <a:rPr lang="en-US" sz="2800" dirty="0"/>
              <a:t>This can create serious issues like incorrect data updates or loss of information.</a:t>
            </a:r>
          </a:p>
          <a:p>
            <a:r>
              <a:rPr lang="en-US" sz="2800" dirty="0"/>
              <a:t>For example, if two users edit a file simultaneously, one user’s changes may</a:t>
            </a:r>
          </a:p>
          <a:p>
            <a:r>
              <a:rPr lang="en-US" sz="2800" dirty="0"/>
              <a:t>overwrite the other’s.</a:t>
            </a:r>
          </a:p>
          <a:p>
            <a:r>
              <a:rPr lang="en-US" sz="2800" dirty="0"/>
              <a:t>To avoid these problems, operating systems use </a:t>
            </a:r>
            <a:r>
              <a:rPr lang="en-US" sz="2800" b="1" dirty="0"/>
              <a:t>file locking mechanisms</a:t>
            </a:r>
            <a:r>
              <a:rPr lang="en-US" sz="2800" dirty="0"/>
              <a:t> </a:t>
            </a:r>
          </a:p>
          <a:p>
            <a:r>
              <a:rPr lang="en-US" sz="2800" dirty="0"/>
              <a:t>that control how files are accessed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865" y="465243"/>
            <a:ext cx="5901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865" y="1376515"/>
            <a:ext cx="83260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multiple threads access shared files without proper control, it leads to:</a:t>
            </a:r>
          </a:p>
          <a:p>
            <a:r>
              <a:rPr lang="en-US" sz="2400" dirty="0"/>
              <a:t>Data inconsistency </a:t>
            </a:r>
          </a:p>
          <a:p>
            <a:r>
              <a:rPr lang="en-US" sz="2400" dirty="0"/>
              <a:t>Race conditions </a:t>
            </a:r>
          </a:p>
          <a:p>
            <a:r>
              <a:rPr lang="en-US" sz="2400" dirty="0"/>
              <a:t>Unexpected results </a:t>
            </a:r>
          </a:p>
          <a:p>
            <a:r>
              <a:rPr lang="en-US" sz="2400" dirty="0"/>
              <a:t>Our project aims to simulate this situation by allowing multiple threads to read and write a file.</a:t>
            </a:r>
          </a:p>
          <a:p>
            <a:r>
              <a:rPr lang="en-US" sz="2400" dirty="0"/>
              <a:t>We also demonstrate how applying locks can prevent these problems and ensure correct behavior.</a:t>
            </a:r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DA366D-79E0-746D-7015-3B9741053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920" y="-201064"/>
            <a:ext cx="2662434" cy="197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4274" y="405765"/>
            <a:ext cx="9918065" cy="6452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3600" dirty="0"/>
              <a:t>Concepts Covered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2800" dirty="0"/>
              <a:t>This project covers important operating system concepts such as:</a:t>
            </a:r>
          </a:p>
          <a:p>
            <a:r>
              <a:rPr lang="en-US" sz="2800" b="1" dirty="0"/>
              <a:t>File Systems:</a:t>
            </a:r>
            <a:r>
              <a:rPr lang="en-US" sz="2800" dirty="0"/>
              <a:t> Managing data stored in files </a:t>
            </a:r>
          </a:p>
          <a:p>
            <a:r>
              <a:rPr lang="en-US" sz="2800" b="1" dirty="0"/>
              <a:t>Concurrency:</a:t>
            </a:r>
            <a:r>
              <a:rPr lang="en-US" sz="2800" dirty="0"/>
              <a:t> Multiple threads executing at the same time </a:t>
            </a:r>
          </a:p>
          <a:p>
            <a:r>
              <a:rPr lang="en-US" sz="2800" b="1" dirty="0"/>
              <a:t>File Locking Mechanisms: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Shared Lock (Read Lock): Allows multiple threads to read </a:t>
            </a:r>
          </a:p>
          <a:p>
            <a:pPr lvl="1"/>
            <a:r>
              <a:rPr lang="en-US" sz="2800" dirty="0"/>
              <a:t>Exclusive Lock (Write Lock): Only one thread can write </a:t>
            </a:r>
          </a:p>
          <a:p>
            <a:r>
              <a:rPr lang="en-US" sz="2800" dirty="0"/>
              <a:t>These concepts help maintain data integrity and system reliability</a:t>
            </a:r>
            <a:r>
              <a:rPr lang="en-US" dirty="0"/>
              <a:t>.</a:t>
            </a:r>
          </a:p>
          <a:p>
            <a:endParaRPr lang="en-US" sz="2400" dirty="0">
              <a:latin typeface="Trebuchet MS" panose="020B0603020202020204" charset="0"/>
              <a:cs typeface="Trebuchet MS" panose="020B0603020202020204" charset="0"/>
              <a:sym typeface="+mn-ea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20F6A32-702B-BF58-14BD-BB4BB62B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399" y="-240568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618" y="394758"/>
            <a:ext cx="3009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System Design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350" y="1041400"/>
            <a:ext cx="10126345" cy="5400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/>
              <a:t>The system is designed using multiple threads.</a:t>
            </a:r>
          </a:p>
          <a:p>
            <a:r>
              <a:rPr lang="en-US" sz="2800" dirty="0"/>
              <a:t>Each thread performs either:</a:t>
            </a:r>
          </a:p>
          <a:p>
            <a:r>
              <a:rPr lang="en-US" sz="2800" dirty="0"/>
              <a:t>Read operation </a:t>
            </a:r>
          </a:p>
          <a:p>
            <a:r>
              <a:rPr lang="en-US" sz="2800" dirty="0"/>
              <a:t>Write operation </a:t>
            </a:r>
          </a:p>
          <a:p>
            <a:r>
              <a:rPr lang="en-US" sz="2800" dirty="0"/>
              <a:t>Initially, without locks, threads access the file simultaneously, causing conflicts.</a:t>
            </a:r>
          </a:p>
          <a:p>
            <a:r>
              <a:rPr lang="en-US" sz="2800" dirty="0"/>
              <a:t>Then, we apply </a:t>
            </a:r>
            <a:r>
              <a:rPr lang="en-US" sz="2800" b="1" dirty="0"/>
              <a:t>Read-Write Locks</a:t>
            </a:r>
            <a:r>
              <a:rPr lang="en-US" sz="2800" dirty="0"/>
              <a:t>, which ensure:</a:t>
            </a:r>
          </a:p>
          <a:p>
            <a:r>
              <a:rPr lang="en-US" sz="2800" dirty="0"/>
              <a:t>Multiple readers can access at once </a:t>
            </a:r>
          </a:p>
          <a:p>
            <a:r>
              <a:rPr lang="en-US" sz="2800" dirty="0"/>
              <a:t>Only one writer can modify the file </a:t>
            </a:r>
          </a:p>
          <a:p>
            <a:r>
              <a:rPr lang="en-US" sz="2800" dirty="0"/>
              <a:t>This improves consistency and prevents errors.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75E674-AA36-CB74-2ED4-8C7AFE630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378" y="-34872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132" y="555412"/>
            <a:ext cx="2946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822" y="1445047"/>
            <a:ext cx="81682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Supports multiple threads accessing files </a:t>
            </a:r>
          </a:p>
          <a:p>
            <a:r>
              <a:rPr lang="en-US" sz="2800" dirty="0"/>
              <a:t>Implements Read-Write locking mechanism </a:t>
            </a:r>
          </a:p>
          <a:p>
            <a:r>
              <a:rPr lang="en-US" sz="2800" dirty="0"/>
              <a:t>Demonstrates conflict scenarios clearly </a:t>
            </a:r>
          </a:p>
          <a:p>
            <a:r>
              <a:rPr lang="en-US" sz="2800" dirty="0"/>
              <a:t>Maintains logs showing: </a:t>
            </a:r>
          </a:p>
          <a:p>
            <a:pPr lvl="1"/>
            <a:r>
              <a:rPr lang="en-US" sz="2800" dirty="0"/>
              <a:t>Thread activity </a:t>
            </a:r>
          </a:p>
          <a:p>
            <a:pPr lvl="1"/>
            <a:r>
              <a:rPr lang="en-US" sz="2800" dirty="0"/>
              <a:t>Access time </a:t>
            </a:r>
          </a:p>
          <a:p>
            <a:pPr lvl="1"/>
            <a:r>
              <a:rPr lang="en-US" sz="2800" dirty="0"/>
              <a:t>Operation performed </a:t>
            </a:r>
          </a:p>
          <a:p>
            <a:r>
              <a:rPr lang="en-US" sz="2800" dirty="0"/>
              <a:t>This helps in understanding how synchronization works internally.</a:t>
            </a:r>
          </a:p>
          <a:p>
            <a:endParaRPr lang="en-US" altLang="en-US" sz="2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CB773C-472A-3360-2ADA-13C32065F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53" y="-30939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930" y="615164"/>
            <a:ext cx="4301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Results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39930" y="1261495"/>
            <a:ext cx="341508437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/>
              <a:t>When the program runs without locks:</a:t>
            </a:r>
          </a:p>
          <a:p>
            <a:r>
              <a:rPr lang="en-US" sz="2800" dirty="0"/>
              <a:t>Data becomes inconsistent </a:t>
            </a:r>
          </a:p>
          <a:p>
            <a:r>
              <a:rPr lang="en-US" sz="2800" dirty="0"/>
              <a:t>Output is unpredictable </a:t>
            </a:r>
          </a:p>
          <a:p>
            <a:r>
              <a:rPr lang="en-US" sz="2800" dirty="0"/>
              <a:t>When locks are used:</a:t>
            </a:r>
          </a:p>
          <a:p>
            <a:r>
              <a:rPr lang="en-US" sz="2800" dirty="0"/>
              <a:t>Data remains correct </a:t>
            </a:r>
          </a:p>
          <a:p>
            <a:r>
              <a:rPr lang="en-US" sz="2800" dirty="0"/>
              <a:t>No conflicts occur </a:t>
            </a:r>
          </a:p>
          <a:p>
            <a:r>
              <a:rPr lang="en-US" sz="2800" dirty="0"/>
              <a:t>This proves that locking is necessary for safe concurrent access.</a:t>
            </a:r>
          </a:p>
          <a:p>
            <a:endParaRPr lang="en-US" altLang="en-US" sz="20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BAF68-58C6-62EA-3105-B45A9F46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739" y="-22800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13" y="478791"/>
            <a:ext cx="2361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Conclusion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545" y="1543050"/>
            <a:ext cx="10410825" cy="4860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2800" dirty="0"/>
              <a:t>This project demonstrates how operating systems handle multiple processes </a:t>
            </a:r>
          </a:p>
          <a:p>
            <a:r>
              <a:rPr lang="en-US" sz="2800" dirty="0"/>
              <a:t>accessing shared resources.</a:t>
            </a:r>
          </a:p>
          <a:p>
            <a:r>
              <a:rPr lang="en-US" sz="2800" dirty="0"/>
              <a:t>By using file locking mechanisms, we can:</a:t>
            </a:r>
          </a:p>
          <a:p>
            <a:r>
              <a:rPr lang="en-US" sz="2800" dirty="0"/>
              <a:t>Prevent data corruption </a:t>
            </a:r>
          </a:p>
          <a:p>
            <a:r>
              <a:rPr lang="en-US" sz="2800" dirty="0"/>
              <a:t>Ensure consistency </a:t>
            </a:r>
          </a:p>
          <a:p>
            <a:r>
              <a:rPr lang="en-US" sz="2800" dirty="0"/>
              <a:t>Improve system reliability </a:t>
            </a:r>
          </a:p>
          <a:p>
            <a:r>
              <a:rPr lang="en-US" sz="2800" dirty="0"/>
              <a:t>This concept is widely used in real-world applications like databases and file </a:t>
            </a:r>
          </a:p>
          <a:p>
            <a:r>
              <a:rPr lang="en-US" sz="2800" dirty="0"/>
              <a:t>servers.</a:t>
            </a:r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3F0F44-A3C4-B0F8-3B03-DED0FE7C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285" y="-270065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FBD2B3D-E2EE-B819-412A-FC974C3F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76" y="-206860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646818-16B7-CBF8-F824-F583EFC0A096}"/>
              </a:ext>
            </a:extLst>
          </p:cNvPr>
          <p:cNvSpPr txBox="1"/>
          <p:nvPr/>
        </p:nvSpPr>
        <p:spPr>
          <a:xfrm>
            <a:off x="4247536" y="2920181"/>
            <a:ext cx="2749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</TotalTime>
  <Words>420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Trebuchet MS</vt:lpstr>
      <vt:lpstr>Retrospect</vt:lpstr>
      <vt:lpstr>File System Access &amp; Locking Simulator </vt:lpstr>
      <vt:lpstr>Introduction: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srinikasontireddy@gmail.com</dc:creator>
  <cp:lastModifiedBy>israjiwadi srivalli</cp:lastModifiedBy>
  <cp:revision>13</cp:revision>
  <dcterms:created xsi:type="dcterms:W3CDTF">2026-02-21T11:17:00Z</dcterms:created>
  <dcterms:modified xsi:type="dcterms:W3CDTF">2026-03-30T04:18:34Z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0E2CEB5C7AFA42198F7CD99806A4DF6A_13</vt:lpwstr>
  </property>
  <property fmtid="{D5CDD505-2E9C-101B-9397-08002B2CF9AE}" pid="3" name="KSOProductBuildVer">
    <vt:lpwstr>1033-12.1.0.25242</vt:lpwstr>
  </property>
</Properties>
</file>